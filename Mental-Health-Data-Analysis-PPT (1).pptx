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4630400" cy="8229600"/>
  <p:notesSz cx="8229600" cy="14630400"/>
  <p:embeddedFontLst>
    <p:embeddedFont>
      <p:font typeface="Host Grotesk Medium"/>
      <p:regular r:id="rId19"/>
    </p:embeddedFont>
    <p:embeddedFont>
      <p:font typeface="Host Grotesk Medium"/>
      <p:regular r:id="rId20"/>
    </p:embeddedFont>
    <p:embeddedFont>
      <p:font typeface="Host Grotesk Medium"/>
      <p:regular r:id="rId21"/>
    </p:embeddedFont>
    <p:embeddedFont>
      <p:font typeface="Host Grotesk Medium"/>
      <p:regular r:id="rId22"/>
    </p:embeddedFont>
    <p:embeddedFont>
      <p:font typeface="Roboto"/>
      <p:regular r:id="rId23"/>
    </p:embeddedFont>
    <p:embeddedFont>
      <p:font typeface="Roboto"/>
      <p:regular r:id="rId24"/>
    </p:embeddedFont>
    <p:embeddedFont>
      <p:font typeface="Roboto"/>
      <p:regular r:id="rId25"/>
    </p:embeddedFont>
    <p:embeddedFont>
      <p:font typeface="Roboto"/>
      <p:regular r:id="rId2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 Id="rId21" Type="http://schemas.openxmlformats.org/officeDocument/2006/relationships/font" Target="fonts/font3.fntdata"/><Relationship Id="rId22" Type="http://schemas.openxmlformats.org/officeDocument/2006/relationships/font" Target="fonts/font4.fntdata"/><Relationship Id="rId23" Type="http://schemas.openxmlformats.org/officeDocument/2006/relationships/font" Target="fonts/font5.fntdata"/><Relationship Id="rId24" Type="http://schemas.openxmlformats.org/officeDocument/2006/relationships/font" Target="fonts/font6.fntdata"/><Relationship Id="rId25" Type="http://schemas.openxmlformats.org/officeDocument/2006/relationships/font" Target="fonts/font7.fntdata"/><Relationship Id="rId26"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report presents a comprehensive analysis of global mental health trends and the key factors influencing them.
The visual depicts a stylized brain with interconnected nodes, representing the data and AI-driven insights at the core of our analysis.
Surrounding the brain are subtle human silhouettes, conveying the global, human-centric nature of this mental health study.
Our goal is to uncover valuable insights that can inform policies, programs, and initiatives to support mental wellbeing worldwide.
I'll walk through the key findings and recommendations from this in-depth analysis.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2-1.pn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3-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C7E0E7"/>
          </a:solidFill>
          <a:ln/>
        </p:spPr>
      </p:sp>
      <p:sp>
        <p:nvSpPr>
          <p:cNvPr id="3" name="Shape 1"/>
          <p:cNvSpPr/>
          <p:nvPr/>
        </p:nvSpPr>
        <p:spPr>
          <a:xfrm>
            <a:off x="0" y="0"/>
            <a:ext cx="14630400" cy="8229600"/>
          </a:xfrm>
          <a:prstGeom prst="rect">
            <a:avLst/>
          </a:prstGeom>
          <a:solidFill>
            <a:srgbClr val="FAF9F5"/>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7.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9.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0.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2.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3.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760720" cy="8229600"/>
          </a:xfrm>
          <a:prstGeom prst="rect">
            <a:avLst/>
          </a:prstGeom>
        </p:spPr>
      </p:pic>
      <p:sp>
        <p:nvSpPr>
          <p:cNvPr id="3" name="Text 0"/>
          <p:cNvSpPr/>
          <p:nvPr/>
        </p:nvSpPr>
        <p:spPr>
          <a:xfrm>
            <a:off x="6280190" y="2895719"/>
            <a:ext cx="7556421" cy="1417558"/>
          </a:xfrm>
          <a:prstGeom prst="rect">
            <a:avLst/>
          </a:prstGeom>
          <a:noFill/>
          <a:ln/>
        </p:spPr>
        <p:txBody>
          <a:bodyPr wrap="squar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Mental Health Data Analysis Report</a:t>
            </a:r>
            <a:endParaRPr lang="en-US" sz="4450" dirty="0"/>
          </a:p>
        </p:txBody>
      </p:sp>
      <p:sp>
        <p:nvSpPr>
          <p:cNvPr id="4" name="Text 1"/>
          <p:cNvSpPr/>
          <p:nvPr/>
        </p:nvSpPr>
        <p:spPr>
          <a:xfrm>
            <a:off x="6280190" y="4653439"/>
            <a:ext cx="75564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An Analytical Study on Global Mental Health Trends and Influencing Factors</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937022"/>
            <a:ext cx="4536519" cy="566976"/>
          </a:xfrm>
          <a:prstGeom prst="rect">
            <a:avLst/>
          </a:prstGeom>
          <a:noFill/>
          <a:ln/>
        </p:spPr>
        <p:txBody>
          <a:bodyPr wrap="none" lIns="0" tIns="0" rIns="0" bIns="0" rtlCol="0" anchor="t"/>
          <a:lstStyle/>
          <a:p>
            <a:pPr algn="l" indent="0" marL="0">
              <a:lnSpc>
                <a:spcPts val="4450"/>
              </a:lnSpc>
              <a:buNone/>
            </a:pPr>
            <a:r>
              <a:rPr lang="en-US" sz="3550" dirty="0">
                <a:solidFill>
                  <a:srgbClr val="2E3C4E"/>
                </a:solidFill>
                <a:latin typeface="Host Grotesk Medium" pitchFamily="34" charset="0"/>
                <a:ea typeface="Host Grotesk Medium" pitchFamily="34" charset="-122"/>
                <a:cs typeface="Host Grotesk Medium" pitchFamily="34" charset="-120"/>
              </a:rPr>
              <a:t>Introduction</a:t>
            </a:r>
            <a:endParaRPr lang="en-US" sz="3550" dirty="0"/>
          </a:p>
        </p:txBody>
      </p:sp>
      <p:sp>
        <p:nvSpPr>
          <p:cNvPr id="3" name="Text 1"/>
          <p:cNvSpPr/>
          <p:nvPr/>
        </p:nvSpPr>
        <p:spPr>
          <a:xfrm>
            <a:off x="793790" y="1730812"/>
            <a:ext cx="751582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Understanding Mental Health</a:t>
            </a:r>
            <a:endParaRPr lang="en-US" sz="4450" dirty="0"/>
          </a:p>
        </p:txBody>
      </p:sp>
      <p:sp>
        <p:nvSpPr>
          <p:cNvPr id="4" name="Text 2"/>
          <p:cNvSpPr/>
          <p:nvPr/>
        </p:nvSpPr>
        <p:spPr>
          <a:xfrm>
            <a:off x="793790" y="2779752"/>
            <a:ext cx="13042821"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Mental health, encompassing emotional, psychological, and social well-being, is a critical global concern. It influences how individuals think, feel, and act, affecting stress management, relationships, and decision-making. A positive state of mental health allows individuals to realize their full potential, cope with life's stresses, work productively, and contribute meaningfully to their communities.</a:t>
            </a:r>
            <a:endParaRPr lang="en-US" sz="1750" dirty="0"/>
          </a:p>
        </p:txBody>
      </p:sp>
      <p:sp>
        <p:nvSpPr>
          <p:cNvPr id="5" name="Text 3"/>
          <p:cNvSpPr/>
          <p:nvPr/>
        </p:nvSpPr>
        <p:spPr>
          <a:xfrm>
            <a:off x="793790" y="4395549"/>
            <a:ext cx="13042821"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Despite its profound impact on individual lives and societal progress, mental health has historically been overlooked or stigmatized. However, there's a growing recognition of its integral role in overall health, productivity, and quality of life. Understanding the multifaceted nature of mental health is the first step towards developing effective strategies for prevention, intervention, and support.</a:t>
            </a:r>
            <a:endParaRPr lang="en-US" sz="1750" dirty="0"/>
          </a:p>
        </p:txBody>
      </p:sp>
      <p:sp>
        <p:nvSpPr>
          <p:cNvPr id="6" name="Shape 4"/>
          <p:cNvSpPr/>
          <p:nvPr/>
        </p:nvSpPr>
        <p:spPr>
          <a:xfrm>
            <a:off x="793790" y="6011347"/>
            <a:ext cx="13042821" cy="1281232"/>
          </a:xfrm>
          <a:prstGeom prst="roundRect">
            <a:avLst>
              <a:gd name="adj" fmla="val 7436"/>
            </a:avLst>
          </a:prstGeom>
          <a:solidFill>
            <a:srgbClr val="B6D6FC"/>
          </a:solidFill>
          <a:ln/>
        </p:spPr>
      </p:sp>
      <p:pic>
        <p:nvPicPr>
          <p:cNvPr id="7" name="Image 0" descr="preencoded.png">    </p:cNvPr>
          <p:cNvPicPr>
            <a:picLocks noChangeAspect="1"/>
          </p:cNvPicPr>
          <p:nvPr/>
        </p:nvPicPr>
        <p:blipFill>
          <a:blip r:embed="rId1"/>
          <a:stretch>
            <a:fillRect/>
          </a:stretch>
        </p:blipFill>
        <p:spPr>
          <a:xfrm>
            <a:off x="1020604" y="6340197"/>
            <a:ext cx="283488" cy="226814"/>
          </a:xfrm>
          <a:prstGeom prst="rect">
            <a:avLst/>
          </a:prstGeom>
        </p:spPr>
      </p:pic>
      <p:sp>
        <p:nvSpPr>
          <p:cNvPr id="8" name="Text 5"/>
          <p:cNvSpPr/>
          <p:nvPr/>
        </p:nvSpPr>
        <p:spPr>
          <a:xfrm>
            <a:off x="1530906" y="6294834"/>
            <a:ext cx="12078891" cy="680323"/>
          </a:xfrm>
          <a:prstGeom prst="rect">
            <a:avLst/>
          </a:prstGeom>
          <a:noFill/>
          <a:ln/>
        </p:spPr>
        <p:txBody>
          <a:bodyPr wrap="square" lIns="0" tIns="0" rIns="0" bIns="0" rtlCol="0" anchor="t"/>
          <a:lstStyle/>
          <a:p>
            <a:pPr algn="l" indent="0" marL="0">
              <a:lnSpc>
                <a:spcPts val="2650"/>
              </a:lnSpc>
              <a:buNone/>
            </a:pPr>
            <a:r>
              <a:rPr lang="en-US" sz="1750" dirty="0">
                <a:solidFill>
                  <a:srgbClr val="000000"/>
                </a:solidFill>
                <a:latin typeface="Roboto" pitchFamily="34" charset="0"/>
                <a:ea typeface="Roboto" pitchFamily="34" charset="-122"/>
                <a:cs typeface="Roboto" pitchFamily="34" charset="-120"/>
              </a:rPr>
              <a:t>According to the WHO, </a:t>
            </a:r>
            <a:pPr algn="l" indent="0" marL="0">
              <a:lnSpc>
                <a:spcPts val="2650"/>
              </a:lnSpc>
              <a:buNone/>
            </a:pPr>
            <a:r>
              <a:rPr lang="en-US" sz="1750" b="1" dirty="0">
                <a:solidFill>
                  <a:srgbClr val="000000"/>
                </a:solidFill>
                <a:latin typeface="Roboto" pitchFamily="34" charset="0"/>
                <a:ea typeface="Roboto" pitchFamily="34" charset="-122"/>
                <a:cs typeface="Roboto" pitchFamily="34" charset="-120"/>
              </a:rPr>
              <a:t>one in eight people globally lives with a mental disorder</a:t>
            </a:r>
            <a:pPr algn="l" indent="0" marL="0">
              <a:lnSpc>
                <a:spcPts val="2650"/>
              </a:lnSpc>
              <a:buNone/>
            </a:pPr>
            <a:r>
              <a:rPr lang="en-US" sz="1750" dirty="0">
                <a:solidFill>
                  <a:srgbClr val="000000"/>
                </a:solidFill>
                <a:latin typeface="Roboto" pitchFamily="34" charset="0"/>
                <a:ea typeface="Roboto" pitchFamily="34" charset="-122"/>
                <a:cs typeface="Roboto" pitchFamily="34" charset="-120"/>
              </a:rPr>
              <a:t>, highlighting the urgent need for proactive strategies and interventions.</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34860"/>
            <a:ext cx="6903482"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Why Study Mental Health?</a:t>
            </a:r>
            <a:endParaRPr lang="en-US" sz="4450" dirty="0"/>
          </a:p>
        </p:txBody>
      </p:sp>
      <p:sp>
        <p:nvSpPr>
          <p:cNvPr id="3" name="Shape 1"/>
          <p:cNvSpPr/>
          <p:nvPr/>
        </p:nvSpPr>
        <p:spPr>
          <a:xfrm>
            <a:off x="793790" y="2897267"/>
            <a:ext cx="6407944" cy="1685330"/>
          </a:xfrm>
          <a:prstGeom prst="roundRect">
            <a:avLst>
              <a:gd name="adj" fmla="val 8681"/>
            </a:avLst>
          </a:prstGeom>
          <a:solidFill>
            <a:srgbClr val="FAF9F5"/>
          </a:solidFill>
          <a:ln w="30480">
            <a:solidFill>
              <a:srgbClr val="BFD3D8"/>
            </a:solidFill>
            <a:prstDash val="solid"/>
          </a:ln>
        </p:spPr>
      </p:sp>
      <p:pic>
        <p:nvPicPr>
          <p:cNvPr id="4" name="Image 0" descr="preencoded.png">    </p:cNvPr>
          <p:cNvPicPr>
            <a:picLocks noChangeAspect="1"/>
          </p:cNvPicPr>
          <p:nvPr/>
        </p:nvPicPr>
        <p:blipFill>
          <a:blip r:embed="rId1"/>
          <a:stretch>
            <a:fillRect/>
          </a:stretch>
        </p:blipFill>
        <p:spPr>
          <a:xfrm>
            <a:off x="763310" y="2897267"/>
            <a:ext cx="121920" cy="1685330"/>
          </a:xfrm>
          <a:prstGeom prst="rect">
            <a:avLst/>
          </a:prstGeom>
        </p:spPr>
      </p:pic>
      <p:sp>
        <p:nvSpPr>
          <p:cNvPr id="5" name="Text 2"/>
          <p:cNvSpPr/>
          <p:nvPr/>
        </p:nvSpPr>
        <p:spPr>
          <a:xfrm>
            <a:off x="1142524" y="315456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Overall Well-being</a:t>
            </a:r>
            <a:endParaRPr lang="en-US" sz="2200" dirty="0"/>
          </a:p>
        </p:txBody>
      </p:sp>
      <p:sp>
        <p:nvSpPr>
          <p:cNvPr id="6" name="Text 3"/>
          <p:cNvSpPr/>
          <p:nvPr/>
        </p:nvSpPr>
        <p:spPr>
          <a:xfrm>
            <a:off x="1142524" y="3644979"/>
            <a:ext cx="5801916"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Essential for daily functioning, decision-making, relationships, and productivity.</a:t>
            </a:r>
            <a:endParaRPr lang="en-US" sz="1750" dirty="0"/>
          </a:p>
        </p:txBody>
      </p:sp>
      <p:sp>
        <p:nvSpPr>
          <p:cNvPr id="7" name="Shape 4"/>
          <p:cNvSpPr/>
          <p:nvPr/>
        </p:nvSpPr>
        <p:spPr>
          <a:xfrm>
            <a:off x="7428548" y="2897267"/>
            <a:ext cx="6408063" cy="1685330"/>
          </a:xfrm>
          <a:prstGeom prst="roundRect">
            <a:avLst>
              <a:gd name="adj" fmla="val 8681"/>
            </a:avLst>
          </a:prstGeom>
          <a:solidFill>
            <a:srgbClr val="FAF9F5"/>
          </a:solidFill>
          <a:ln w="30480">
            <a:solidFill>
              <a:srgbClr val="BFD3D8"/>
            </a:solidFill>
            <a:prstDash val="solid"/>
          </a:ln>
        </p:spPr>
      </p:sp>
      <p:pic>
        <p:nvPicPr>
          <p:cNvPr id="8" name="Image 1" descr="preencoded.png">    </p:cNvPr>
          <p:cNvPicPr>
            <a:picLocks noChangeAspect="1"/>
          </p:cNvPicPr>
          <p:nvPr/>
        </p:nvPicPr>
        <p:blipFill>
          <a:blip r:embed="rId2"/>
          <a:stretch>
            <a:fillRect/>
          </a:stretch>
        </p:blipFill>
        <p:spPr>
          <a:xfrm>
            <a:off x="7398067" y="2897267"/>
            <a:ext cx="121920" cy="1685330"/>
          </a:xfrm>
          <a:prstGeom prst="rect">
            <a:avLst/>
          </a:prstGeom>
        </p:spPr>
      </p:pic>
      <p:sp>
        <p:nvSpPr>
          <p:cNvPr id="9" name="Text 5"/>
          <p:cNvSpPr/>
          <p:nvPr/>
        </p:nvSpPr>
        <p:spPr>
          <a:xfrm>
            <a:off x="7777282" y="315456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Early Detection</a:t>
            </a:r>
            <a:endParaRPr lang="en-US" sz="2200" dirty="0"/>
          </a:p>
        </p:txBody>
      </p:sp>
      <p:sp>
        <p:nvSpPr>
          <p:cNvPr id="10" name="Text 6"/>
          <p:cNvSpPr/>
          <p:nvPr/>
        </p:nvSpPr>
        <p:spPr>
          <a:xfrm>
            <a:off x="7777282" y="3644979"/>
            <a:ext cx="5802035"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Helps understand root causes, identify patterns, and enable early detection and intervention.</a:t>
            </a:r>
            <a:endParaRPr lang="en-US" sz="1750" dirty="0"/>
          </a:p>
        </p:txBody>
      </p:sp>
      <p:sp>
        <p:nvSpPr>
          <p:cNvPr id="11" name="Shape 7"/>
          <p:cNvSpPr/>
          <p:nvPr/>
        </p:nvSpPr>
        <p:spPr>
          <a:xfrm>
            <a:off x="793790" y="4809411"/>
            <a:ext cx="6407944" cy="1685330"/>
          </a:xfrm>
          <a:prstGeom prst="roundRect">
            <a:avLst>
              <a:gd name="adj" fmla="val 8681"/>
            </a:avLst>
          </a:prstGeom>
          <a:solidFill>
            <a:srgbClr val="FAF9F5"/>
          </a:solidFill>
          <a:ln w="30480">
            <a:solidFill>
              <a:srgbClr val="BFD3D8"/>
            </a:solidFill>
            <a:prstDash val="solid"/>
          </a:ln>
        </p:spPr>
      </p:sp>
      <p:pic>
        <p:nvPicPr>
          <p:cNvPr id="12" name="Image 2" descr="preencoded.png">    </p:cNvPr>
          <p:cNvPicPr>
            <a:picLocks noChangeAspect="1"/>
          </p:cNvPicPr>
          <p:nvPr/>
        </p:nvPicPr>
        <p:blipFill>
          <a:blip r:embed="rId3"/>
          <a:stretch>
            <a:fillRect/>
          </a:stretch>
        </p:blipFill>
        <p:spPr>
          <a:xfrm>
            <a:off x="763310" y="4809411"/>
            <a:ext cx="121920" cy="1685330"/>
          </a:xfrm>
          <a:prstGeom prst="rect">
            <a:avLst/>
          </a:prstGeom>
        </p:spPr>
      </p:pic>
      <p:sp>
        <p:nvSpPr>
          <p:cNvPr id="13" name="Text 8"/>
          <p:cNvSpPr/>
          <p:nvPr/>
        </p:nvSpPr>
        <p:spPr>
          <a:xfrm>
            <a:off x="1142524" y="506670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Reduce Stigma</a:t>
            </a:r>
            <a:endParaRPr lang="en-US" sz="2200" dirty="0"/>
          </a:p>
        </p:txBody>
      </p:sp>
      <p:sp>
        <p:nvSpPr>
          <p:cNvPr id="14" name="Text 9"/>
          <p:cNvSpPr/>
          <p:nvPr/>
        </p:nvSpPr>
        <p:spPr>
          <a:xfrm>
            <a:off x="1142524" y="5557123"/>
            <a:ext cx="5801916"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Encourages more people to seek help and reduces the stigma associated with mental health conditions.</a:t>
            </a:r>
            <a:endParaRPr lang="en-US" sz="1750" dirty="0"/>
          </a:p>
        </p:txBody>
      </p:sp>
      <p:sp>
        <p:nvSpPr>
          <p:cNvPr id="15" name="Shape 10"/>
          <p:cNvSpPr/>
          <p:nvPr/>
        </p:nvSpPr>
        <p:spPr>
          <a:xfrm>
            <a:off x="7428548" y="4809411"/>
            <a:ext cx="6408063" cy="1685330"/>
          </a:xfrm>
          <a:prstGeom prst="roundRect">
            <a:avLst>
              <a:gd name="adj" fmla="val 8681"/>
            </a:avLst>
          </a:prstGeom>
          <a:solidFill>
            <a:srgbClr val="FAF9F5"/>
          </a:solidFill>
          <a:ln w="30480">
            <a:solidFill>
              <a:srgbClr val="BFD3D8"/>
            </a:solidFill>
            <a:prstDash val="solid"/>
          </a:ln>
        </p:spPr>
      </p:sp>
      <p:pic>
        <p:nvPicPr>
          <p:cNvPr id="16" name="Image 3" descr="preencoded.png">    </p:cNvPr>
          <p:cNvPicPr>
            <a:picLocks noChangeAspect="1"/>
          </p:cNvPicPr>
          <p:nvPr/>
        </p:nvPicPr>
        <p:blipFill>
          <a:blip r:embed="rId4"/>
          <a:stretch>
            <a:fillRect/>
          </a:stretch>
        </p:blipFill>
        <p:spPr>
          <a:xfrm>
            <a:off x="7398067" y="4809411"/>
            <a:ext cx="121920" cy="1685330"/>
          </a:xfrm>
          <a:prstGeom prst="rect">
            <a:avLst/>
          </a:prstGeom>
        </p:spPr>
      </p:pic>
      <p:sp>
        <p:nvSpPr>
          <p:cNvPr id="17" name="Text 11"/>
          <p:cNvSpPr/>
          <p:nvPr/>
        </p:nvSpPr>
        <p:spPr>
          <a:xfrm>
            <a:off x="7777282" y="5066705"/>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Better Policies</a:t>
            </a:r>
            <a:endParaRPr lang="en-US" sz="2200" dirty="0"/>
          </a:p>
        </p:txBody>
      </p:sp>
      <p:sp>
        <p:nvSpPr>
          <p:cNvPr id="18" name="Text 12"/>
          <p:cNvSpPr/>
          <p:nvPr/>
        </p:nvSpPr>
        <p:spPr>
          <a:xfrm>
            <a:off x="7777282" y="5557123"/>
            <a:ext cx="5802035"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Informs healthcare policies, promotes emotional resilience, and creates inclusive environments.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101334"/>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Project Goals</a:t>
            </a:r>
            <a:endParaRPr lang="en-US" sz="4450" dirty="0"/>
          </a:p>
        </p:txBody>
      </p:sp>
      <p:sp>
        <p:nvSpPr>
          <p:cNvPr id="3" name="Text 1"/>
          <p:cNvSpPr/>
          <p:nvPr/>
        </p:nvSpPr>
        <p:spPr>
          <a:xfrm>
            <a:off x="793790" y="3263741"/>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This project explores the relationship between mental health and socioeconomic factors using a multi-country survey dataset.</a:t>
            </a:r>
            <a:endParaRPr lang="en-US" sz="1750" dirty="0"/>
          </a:p>
        </p:txBody>
      </p:sp>
      <p:sp>
        <p:nvSpPr>
          <p:cNvPr id="4" name="Shape 2"/>
          <p:cNvSpPr/>
          <p:nvPr/>
        </p:nvSpPr>
        <p:spPr>
          <a:xfrm>
            <a:off x="793790" y="3859054"/>
            <a:ext cx="510302" cy="510302"/>
          </a:xfrm>
          <a:prstGeom prst="roundRect">
            <a:avLst>
              <a:gd name="adj" fmla="val 18669"/>
            </a:avLst>
          </a:prstGeom>
          <a:solidFill>
            <a:srgbClr val="D9EDF2"/>
          </a:solidFill>
          <a:ln w="7620">
            <a:solidFill>
              <a:srgbClr val="BFD3D8"/>
            </a:solidFill>
            <a:prstDash val="solid"/>
          </a:ln>
        </p:spPr>
      </p:sp>
      <p:sp>
        <p:nvSpPr>
          <p:cNvPr id="5" name="Text 3"/>
          <p:cNvSpPr/>
          <p:nvPr/>
        </p:nvSpPr>
        <p:spPr>
          <a:xfrm>
            <a:off x="878860" y="3901559"/>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1</a:t>
            </a:r>
            <a:endParaRPr lang="en-US" sz="2650" dirty="0"/>
          </a:p>
        </p:txBody>
      </p:sp>
      <p:sp>
        <p:nvSpPr>
          <p:cNvPr id="6" name="Text 4"/>
          <p:cNvSpPr/>
          <p:nvPr/>
        </p:nvSpPr>
        <p:spPr>
          <a:xfrm>
            <a:off x="1530906" y="39369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Uncover Patterns</a:t>
            </a:r>
            <a:endParaRPr lang="en-US" sz="2200" dirty="0"/>
          </a:p>
        </p:txBody>
      </p:sp>
      <p:sp>
        <p:nvSpPr>
          <p:cNvPr id="7" name="Text 5"/>
          <p:cNvSpPr/>
          <p:nvPr/>
        </p:nvSpPr>
        <p:spPr>
          <a:xfrm>
            <a:off x="1530906" y="4427339"/>
            <a:ext cx="3421499" cy="1700808"/>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Use exploratory data analysis (EDA) to find patterns and disparities in mental health across demographics and regions.</a:t>
            </a:r>
            <a:endParaRPr lang="en-US" sz="1750" dirty="0"/>
          </a:p>
        </p:txBody>
      </p:sp>
      <p:sp>
        <p:nvSpPr>
          <p:cNvPr id="8" name="Shape 6"/>
          <p:cNvSpPr/>
          <p:nvPr/>
        </p:nvSpPr>
        <p:spPr>
          <a:xfrm>
            <a:off x="5235893" y="3859054"/>
            <a:ext cx="510302" cy="510302"/>
          </a:xfrm>
          <a:prstGeom prst="roundRect">
            <a:avLst>
              <a:gd name="adj" fmla="val 18669"/>
            </a:avLst>
          </a:prstGeom>
          <a:solidFill>
            <a:srgbClr val="D9EDF2"/>
          </a:solidFill>
          <a:ln w="7620">
            <a:solidFill>
              <a:srgbClr val="BFD3D8"/>
            </a:solidFill>
            <a:prstDash val="solid"/>
          </a:ln>
        </p:spPr>
      </p:sp>
      <p:sp>
        <p:nvSpPr>
          <p:cNvPr id="9" name="Text 7"/>
          <p:cNvSpPr/>
          <p:nvPr/>
        </p:nvSpPr>
        <p:spPr>
          <a:xfrm>
            <a:off x="5320963" y="3901559"/>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2</a:t>
            </a:r>
            <a:endParaRPr lang="en-US" sz="2650" dirty="0"/>
          </a:p>
        </p:txBody>
      </p:sp>
      <p:sp>
        <p:nvSpPr>
          <p:cNvPr id="10" name="Text 8"/>
          <p:cNvSpPr/>
          <p:nvPr/>
        </p:nvSpPr>
        <p:spPr>
          <a:xfrm>
            <a:off x="5973008" y="39369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Analyze Impact</a:t>
            </a:r>
            <a:endParaRPr lang="en-US" sz="2200" dirty="0"/>
          </a:p>
        </p:txBody>
      </p:sp>
      <p:sp>
        <p:nvSpPr>
          <p:cNvPr id="11" name="Text 9"/>
          <p:cNvSpPr/>
          <p:nvPr/>
        </p:nvSpPr>
        <p:spPr>
          <a:xfrm>
            <a:off x="5973008" y="4427339"/>
            <a:ext cx="3421499" cy="1360646"/>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Assess the impact of demographic, scientific trust, and socio-economic factors on mental health status.</a:t>
            </a:r>
            <a:endParaRPr lang="en-US" sz="1750" dirty="0"/>
          </a:p>
        </p:txBody>
      </p:sp>
      <p:sp>
        <p:nvSpPr>
          <p:cNvPr id="12" name="Shape 10"/>
          <p:cNvSpPr/>
          <p:nvPr/>
        </p:nvSpPr>
        <p:spPr>
          <a:xfrm>
            <a:off x="9677995" y="3859054"/>
            <a:ext cx="510302" cy="510302"/>
          </a:xfrm>
          <a:prstGeom prst="roundRect">
            <a:avLst>
              <a:gd name="adj" fmla="val 18669"/>
            </a:avLst>
          </a:prstGeom>
          <a:solidFill>
            <a:srgbClr val="D9EDF2"/>
          </a:solidFill>
          <a:ln w="7620">
            <a:solidFill>
              <a:srgbClr val="BFD3D8"/>
            </a:solidFill>
            <a:prstDash val="solid"/>
          </a:ln>
        </p:spPr>
      </p:sp>
      <p:sp>
        <p:nvSpPr>
          <p:cNvPr id="13" name="Text 11"/>
          <p:cNvSpPr/>
          <p:nvPr/>
        </p:nvSpPr>
        <p:spPr>
          <a:xfrm>
            <a:off x="9763065" y="3901559"/>
            <a:ext cx="340162" cy="425291"/>
          </a:xfrm>
          <a:prstGeom prst="rect">
            <a:avLst/>
          </a:prstGeom>
          <a:noFill/>
          <a:ln/>
        </p:spPr>
        <p:txBody>
          <a:bodyPr wrap="none" lIns="0" tIns="0" rIns="0" bIns="0" rtlCol="0" anchor="t"/>
          <a:lstStyle/>
          <a:p>
            <a:pPr algn="ctr"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3</a:t>
            </a:r>
            <a:endParaRPr lang="en-US" sz="2650" dirty="0"/>
          </a:p>
        </p:txBody>
      </p:sp>
      <p:sp>
        <p:nvSpPr>
          <p:cNvPr id="14" name="Text 12"/>
          <p:cNvSpPr/>
          <p:nvPr/>
        </p:nvSpPr>
        <p:spPr>
          <a:xfrm>
            <a:off x="10415111" y="393692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Predictive Model</a:t>
            </a:r>
            <a:endParaRPr lang="en-US" sz="2200" dirty="0"/>
          </a:p>
        </p:txBody>
      </p:sp>
      <p:sp>
        <p:nvSpPr>
          <p:cNvPr id="15" name="Text 13"/>
          <p:cNvSpPr/>
          <p:nvPr/>
        </p:nvSpPr>
        <p:spPr>
          <a:xfrm>
            <a:off x="10415111" y="4427339"/>
            <a:ext cx="3421499"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Build a machine learning model to predict the likelihood of mental health issues.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82987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Data Preparation</a:t>
            </a:r>
            <a:endParaRPr lang="en-US" sz="4450" dirty="0"/>
          </a:p>
        </p:txBody>
      </p:sp>
      <p:sp>
        <p:nvSpPr>
          <p:cNvPr id="3" name="Text 1"/>
          <p:cNvSpPr/>
          <p:nvPr/>
        </p:nvSpPr>
        <p:spPr>
          <a:xfrm>
            <a:off x="793790" y="3105626"/>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Data Collection</a:t>
            </a:r>
            <a:endParaRPr lang="en-US" sz="2200" dirty="0"/>
          </a:p>
        </p:txBody>
      </p:sp>
      <p:sp>
        <p:nvSpPr>
          <p:cNvPr id="4" name="Text 2"/>
          <p:cNvSpPr/>
          <p:nvPr/>
        </p:nvSpPr>
        <p:spPr>
          <a:xfrm>
            <a:off x="793790" y="3686770"/>
            <a:ext cx="6244709" cy="1020485"/>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Dataset from a large-scale international mental health survey, inspired by the 2020 Wellcome Global Monitor, with over 20,000 participants across multiple countries.</a:t>
            </a:r>
            <a:endParaRPr lang="en-US" sz="1750" dirty="0"/>
          </a:p>
        </p:txBody>
      </p:sp>
      <p:sp>
        <p:nvSpPr>
          <p:cNvPr id="5" name="Text 3"/>
          <p:cNvSpPr/>
          <p:nvPr/>
        </p:nvSpPr>
        <p:spPr>
          <a:xfrm>
            <a:off x="793790" y="4934069"/>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Data Cleaning</a:t>
            </a:r>
            <a:endParaRPr lang="en-US" sz="2200" dirty="0"/>
          </a:p>
        </p:txBody>
      </p:sp>
      <p:sp>
        <p:nvSpPr>
          <p:cNvPr id="6" name="Text 4"/>
          <p:cNvSpPr/>
          <p:nvPr/>
        </p:nvSpPr>
        <p:spPr>
          <a:xfrm>
            <a:off x="793790" y="5515213"/>
            <a:ext cx="6244709"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Identified and handled unhelpful patterns, imputed healthier responses, and dropped unnecessary columns.</a:t>
            </a:r>
            <a:endParaRPr lang="en-US" sz="1750" dirty="0"/>
          </a:p>
        </p:txBody>
      </p:sp>
      <p:pic>
        <p:nvPicPr>
          <p:cNvPr id="7" name="Image 0" descr="preencoded.png">    </p:cNvPr>
          <p:cNvPicPr>
            <a:picLocks noChangeAspect="1"/>
          </p:cNvPicPr>
          <p:nvPr/>
        </p:nvPicPr>
        <p:blipFill>
          <a:blip r:embed="rId1"/>
          <a:stretch>
            <a:fillRect/>
          </a:stretch>
        </p:blipFill>
        <p:spPr>
          <a:xfrm>
            <a:off x="7599521" y="3133963"/>
            <a:ext cx="6244709" cy="533162"/>
          </a:xfrm>
          <a:prstGeom prst="rect">
            <a:avLst/>
          </a:prstGeom>
        </p:spPr>
      </p:pic>
      <p:sp>
        <p:nvSpPr>
          <p:cNvPr id="8" name="Text 5"/>
          <p:cNvSpPr/>
          <p:nvPr/>
        </p:nvSpPr>
        <p:spPr>
          <a:xfrm>
            <a:off x="7599521" y="3922276"/>
            <a:ext cx="6244709"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Figure 1: Handling Missing Values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84384" y="617815"/>
            <a:ext cx="5603200" cy="700326"/>
          </a:xfrm>
          <a:prstGeom prst="rect">
            <a:avLst/>
          </a:prstGeom>
          <a:noFill/>
          <a:ln/>
        </p:spPr>
        <p:txBody>
          <a:bodyPr wrap="none" lIns="0" tIns="0" rIns="0" bIns="0" rtlCol="0" anchor="t"/>
          <a:lstStyle/>
          <a:p>
            <a:pPr algn="l" indent="0" marL="0">
              <a:lnSpc>
                <a:spcPts val="5500"/>
              </a:lnSpc>
              <a:buNone/>
            </a:pPr>
            <a:r>
              <a:rPr lang="en-US" sz="4400" dirty="0">
                <a:solidFill>
                  <a:srgbClr val="2E3C4E"/>
                </a:solidFill>
                <a:latin typeface="Host Grotesk Medium" pitchFamily="34" charset="0"/>
                <a:ea typeface="Host Grotesk Medium" pitchFamily="34" charset="-122"/>
                <a:cs typeface="Host Grotesk Medium" pitchFamily="34" charset="-120"/>
              </a:rPr>
              <a:t>Feature Engineering</a:t>
            </a:r>
            <a:endParaRPr lang="en-US" sz="4400" dirty="0"/>
          </a:p>
        </p:txBody>
      </p:sp>
      <p:sp>
        <p:nvSpPr>
          <p:cNvPr id="3" name="Text 1"/>
          <p:cNvSpPr/>
          <p:nvPr/>
        </p:nvSpPr>
        <p:spPr>
          <a:xfrm>
            <a:off x="784384" y="1766292"/>
            <a:ext cx="13061633" cy="336113"/>
          </a:xfrm>
          <a:prstGeom prst="rect">
            <a:avLst/>
          </a:prstGeom>
          <a:noFill/>
          <a:ln/>
        </p:spPr>
        <p:txBody>
          <a:bodyPr wrap="non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Transformed raw data into meaningful features for deeper insights and model building.</a:t>
            </a:r>
            <a:endParaRPr lang="en-US" sz="1750" dirty="0"/>
          </a:p>
        </p:txBody>
      </p:sp>
      <p:sp>
        <p:nvSpPr>
          <p:cNvPr id="4" name="Shape 2"/>
          <p:cNvSpPr/>
          <p:nvPr/>
        </p:nvSpPr>
        <p:spPr>
          <a:xfrm>
            <a:off x="784384" y="2354461"/>
            <a:ext cx="6418778" cy="2516624"/>
          </a:xfrm>
          <a:prstGeom prst="roundRect">
            <a:avLst>
              <a:gd name="adj" fmla="val 3741"/>
            </a:avLst>
          </a:prstGeom>
          <a:solidFill>
            <a:srgbClr val="D9EDF2"/>
          </a:solidFill>
          <a:ln w="7620">
            <a:solidFill>
              <a:srgbClr val="BFD3D8"/>
            </a:solidFill>
            <a:prstDash val="solid"/>
          </a:ln>
        </p:spPr>
      </p:sp>
      <p:pic>
        <p:nvPicPr>
          <p:cNvPr id="5" name="Image 0" descr="preencoded.png">    </p:cNvPr>
          <p:cNvPicPr>
            <a:picLocks noChangeAspect="1"/>
          </p:cNvPicPr>
          <p:nvPr/>
        </p:nvPicPr>
        <p:blipFill>
          <a:blip r:embed="rId1"/>
          <a:stretch>
            <a:fillRect/>
          </a:stretch>
        </p:blipFill>
        <p:spPr>
          <a:xfrm>
            <a:off x="1016079" y="2586157"/>
            <a:ext cx="672346" cy="672346"/>
          </a:xfrm>
          <a:prstGeom prst="rect">
            <a:avLst/>
          </a:prstGeom>
        </p:spPr>
      </p:pic>
      <p:pic>
        <p:nvPicPr>
          <p:cNvPr id="6" name="Image 1" descr="preencoded.png">    </p:cNvPr>
          <p:cNvPicPr>
            <a:picLocks noChangeAspect="1"/>
          </p:cNvPicPr>
          <p:nvPr/>
        </p:nvPicPr>
        <p:blipFill>
          <a:blip r:embed="rId2"/>
          <a:stretch>
            <a:fillRect/>
          </a:stretch>
        </p:blipFill>
        <p:spPr>
          <a:xfrm>
            <a:off x="1200983" y="2733199"/>
            <a:ext cx="302538" cy="378143"/>
          </a:xfrm>
          <a:prstGeom prst="rect">
            <a:avLst/>
          </a:prstGeom>
        </p:spPr>
      </p:pic>
      <p:sp>
        <p:nvSpPr>
          <p:cNvPr id="7" name="Text 3"/>
          <p:cNvSpPr/>
          <p:nvPr/>
        </p:nvSpPr>
        <p:spPr>
          <a:xfrm>
            <a:off x="1016079" y="3482578"/>
            <a:ext cx="2801541" cy="350163"/>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Age-Based Features</a:t>
            </a:r>
            <a:endParaRPr lang="en-US" sz="2200" dirty="0"/>
          </a:p>
        </p:txBody>
      </p:sp>
      <p:sp>
        <p:nvSpPr>
          <p:cNvPr id="8" name="Text 4"/>
          <p:cNvSpPr/>
          <p:nvPr/>
        </p:nvSpPr>
        <p:spPr>
          <a:xfrm>
            <a:off x="1016079" y="3967163"/>
            <a:ext cx="5955387" cy="672227"/>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Categorized age groups and analyzed age at onset of anxiety/depression.</a:t>
            </a:r>
            <a:endParaRPr lang="en-US" sz="1750" dirty="0"/>
          </a:p>
        </p:txBody>
      </p:sp>
      <p:sp>
        <p:nvSpPr>
          <p:cNvPr id="9" name="Shape 5"/>
          <p:cNvSpPr/>
          <p:nvPr/>
        </p:nvSpPr>
        <p:spPr>
          <a:xfrm>
            <a:off x="7427238" y="2354461"/>
            <a:ext cx="6418778" cy="2516624"/>
          </a:xfrm>
          <a:prstGeom prst="roundRect">
            <a:avLst>
              <a:gd name="adj" fmla="val 3741"/>
            </a:avLst>
          </a:prstGeom>
          <a:solidFill>
            <a:srgbClr val="D9EDF2"/>
          </a:solidFill>
          <a:ln w="7620">
            <a:solidFill>
              <a:srgbClr val="BFD3D8"/>
            </a:solidFill>
            <a:prstDash val="solid"/>
          </a:ln>
        </p:spPr>
      </p:sp>
      <p:pic>
        <p:nvPicPr>
          <p:cNvPr id="10" name="Image 2" descr="preencoded.png">    </p:cNvPr>
          <p:cNvPicPr>
            <a:picLocks noChangeAspect="1"/>
          </p:cNvPicPr>
          <p:nvPr/>
        </p:nvPicPr>
        <p:blipFill>
          <a:blip r:embed="rId3"/>
          <a:stretch>
            <a:fillRect/>
          </a:stretch>
        </p:blipFill>
        <p:spPr>
          <a:xfrm>
            <a:off x="7658933" y="2586157"/>
            <a:ext cx="672346" cy="672346"/>
          </a:xfrm>
          <a:prstGeom prst="rect">
            <a:avLst/>
          </a:prstGeom>
        </p:spPr>
      </p:pic>
      <p:pic>
        <p:nvPicPr>
          <p:cNvPr id="11" name="Image 3" descr="preencoded.png">    </p:cNvPr>
          <p:cNvPicPr>
            <a:picLocks noChangeAspect="1"/>
          </p:cNvPicPr>
          <p:nvPr/>
        </p:nvPicPr>
        <p:blipFill>
          <a:blip r:embed="rId4"/>
          <a:stretch>
            <a:fillRect/>
          </a:stretch>
        </p:blipFill>
        <p:spPr>
          <a:xfrm>
            <a:off x="7843838" y="2733199"/>
            <a:ext cx="302538" cy="378143"/>
          </a:xfrm>
          <a:prstGeom prst="rect">
            <a:avLst/>
          </a:prstGeom>
        </p:spPr>
      </p:pic>
      <p:sp>
        <p:nvSpPr>
          <p:cNvPr id="12" name="Text 6"/>
          <p:cNvSpPr/>
          <p:nvPr/>
        </p:nvSpPr>
        <p:spPr>
          <a:xfrm>
            <a:off x="7658933" y="3482578"/>
            <a:ext cx="3478649" cy="350163"/>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Socio-Economic Groupings</a:t>
            </a:r>
            <a:endParaRPr lang="en-US" sz="2200" dirty="0"/>
          </a:p>
        </p:txBody>
      </p:sp>
      <p:sp>
        <p:nvSpPr>
          <p:cNvPr id="13" name="Text 7"/>
          <p:cNvSpPr/>
          <p:nvPr/>
        </p:nvSpPr>
        <p:spPr>
          <a:xfrm>
            <a:off x="7658933" y="3967163"/>
            <a:ext cx="5955387" cy="672227"/>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Grouped income levels, education, and employment status to assess their impact.</a:t>
            </a:r>
            <a:endParaRPr lang="en-US" sz="1750" dirty="0"/>
          </a:p>
        </p:txBody>
      </p:sp>
      <p:sp>
        <p:nvSpPr>
          <p:cNvPr id="14" name="Shape 8"/>
          <p:cNvSpPr/>
          <p:nvPr/>
        </p:nvSpPr>
        <p:spPr>
          <a:xfrm>
            <a:off x="784384" y="5095161"/>
            <a:ext cx="6418778" cy="2516624"/>
          </a:xfrm>
          <a:prstGeom prst="roundRect">
            <a:avLst>
              <a:gd name="adj" fmla="val 3741"/>
            </a:avLst>
          </a:prstGeom>
          <a:solidFill>
            <a:srgbClr val="D9EDF2"/>
          </a:solidFill>
          <a:ln w="7620">
            <a:solidFill>
              <a:srgbClr val="BFD3D8"/>
            </a:solidFill>
            <a:prstDash val="solid"/>
          </a:ln>
        </p:spPr>
      </p:sp>
      <p:pic>
        <p:nvPicPr>
          <p:cNvPr id="15" name="Image 4" descr="preencoded.png">    </p:cNvPr>
          <p:cNvPicPr>
            <a:picLocks noChangeAspect="1"/>
          </p:cNvPicPr>
          <p:nvPr/>
        </p:nvPicPr>
        <p:blipFill>
          <a:blip r:embed="rId5"/>
          <a:stretch>
            <a:fillRect/>
          </a:stretch>
        </p:blipFill>
        <p:spPr>
          <a:xfrm>
            <a:off x="1016079" y="5326856"/>
            <a:ext cx="672346" cy="672346"/>
          </a:xfrm>
          <a:prstGeom prst="rect">
            <a:avLst/>
          </a:prstGeom>
        </p:spPr>
      </p:pic>
      <p:pic>
        <p:nvPicPr>
          <p:cNvPr id="16" name="Image 5" descr="preencoded.png">    </p:cNvPr>
          <p:cNvPicPr>
            <a:picLocks noChangeAspect="1"/>
          </p:cNvPicPr>
          <p:nvPr/>
        </p:nvPicPr>
        <p:blipFill>
          <a:blip r:embed="rId6"/>
          <a:stretch>
            <a:fillRect/>
          </a:stretch>
        </p:blipFill>
        <p:spPr>
          <a:xfrm>
            <a:off x="1200983" y="5473898"/>
            <a:ext cx="302538" cy="378143"/>
          </a:xfrm>
          <a:prstGeom prst="rect">
            <a:avLst/>
          </a:prstGeom>
        </p:spPr>
      </p:pic>
      <p:sp>
        <p:nvSpPr>
          <p:cNvPr id="17" name="Text 9"/>
          <p:cNvSpPr/>
          <p:nvPr/>
        </p:nvSpPr>
        <p:spPr>
          <a:xfrm>
            <a:off x="1016079" y="6223278"/>
            <a:ext cx="2801541" cy="350163"/>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Coping &amp; Support</a:t>
            </a:r>
            <a:endParaRPr lang="en-US" sz="2200" dirty="0"/>
          </a:p>
        </p:txBody>
      </p:sp>
      <p:sp>
        <p:nvSpPr>
          <p:cNvPr id="18" name="Text 10"/>
          <p:cNvSpPr/>
          <p:nvPr/>
        </p:nvSpPr>
        <p:spPr>
          <a:xfrm>
            <a:off x="1016079" y="6707862"/>
            <a:ext cx="5955387" cy="672227"/>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Derived features for coping mechanism effectiveness and support network strength.</a:t>
            </a:r>
            <a:endParaRPr lang="en-US" sz="1750" dirty="0"/>
          </a:p>
        </p:txBody>
      </p:sp>
      <p:sp>
        <p:nvSpPr>
          <p:cNvPr id="19" name="Shape 11"/>
          <p:cNvSpPr/>
          <p:nvPr/>
        </p:nvSpPr>
        <p:spPr>
          <a:xfrm>
            <a:off x="7427238" y="5095161"/>
            <a:ext cx="6418778" cy="2516624"/>
          </a:xfrm>
          <a:prstGeom prst="roundRect">
            <a:avLst>
              <a:gd name="adj" fmla="val 3741"/>
            </a:avLst>
          </a:prstGeom>
          <a:solidFill>
            <a:srgbClr val="D9EDF2"/>
          </a:solidFill>
          <a:ln w="7620">
            <a:solidFill>
              <a:srgbClr val="BFD3D8"/>
            </a:solidFill>
            <a:prstDash val="solid"/>
          </a:ln>
        </p:spPr>
      </p:sp>
      <p:pic>
        <p:nvPicPr>
          <p:cNvPr id="20" name="Image 6" descr="preencoded.png">    </p:cNvPr>
          <p:cNvPicPr>
            <a:picLocks noChangeAspect="1"/>
          </p:cNvPicPr>
          <p:nvPr/>
        </p:nvPicPr>
        <p:blipFill>
          <a:blip r:embed="rId7"/>
          <a:stretch>
            <a:fillRect/>
          </a:stretch>
        </p:blipFill>
        <p:spPr>
          <a:xfrm>
            <a:off x="7658933" y="5326856"/>
            <a:ext cx="672346" cy="672346"/>
          </a:xfrm>
          <a:prstGeom prst="rect">
            <a:avLst/>
          </a:prstGeom>
        </p:spPr>
      </p:pic>
      <p:pic>
        <p:nvPicPr>
          <p:cNvPr id="21" name="Image 7" descr="preencoded.png">    </p:cNvPr>
          <p:cNvPicPr>
            <a:picLocks noChangeAspect="1"/>
          </p:cNvPicPr>
          <p:nvPr/>
        </p:nvPicPr>
        <p:blipFill>
          <a:blip r:embed="rId8"/>
          <a:stretch>
            <a:fillRect/>
          </a:stretch>
        </p:blipFill>
        <p:spPr>
          <a:xfrm>
            <a:off x="7843838" y="5473898"/>
            <a:ext cx="302538" cy="378143"/>
          </a:xfrm>
          <a:prstGeom prst="rect">
            <a:avLst/>
          </a:prstGeom>
        </p:spPr>
      </p:pic>
      <p:sp>
        <p:nvSpPr>
          <p:cNvPr id="22" name="Text 12"/>
          <p:cNvSpPr/>
          <p:nvPr/>
        </p:nvSpPr>
        <p:spPr>
          <a:xfrm>
            <a:off x="7658933" y="6223278"/>
            <a:ext cx="2952155" cy="350163"/>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Psychological Attitudes</a:t>
            </a:r>
            <a:endParaRPr lang="en-US" sz="2200" dirty="0"/>
          </a:p>
        </p:txBody>
      </p:sp>
      <p:sp>
        <p:nvSpPr>
          <p:cNvPr id="23" name="Text 13"/>
          <p:cNvSpPr/>
          <p:nvPr/>
        </p:nvSpPr>
        <p:spPr>
          <a:xfrm>
            <a:off x="7658933" y="6707862"/>
            <a:ext cx="5955387" cy="672227"/>
          </a:xfrm>
          <a:prstGeom prst="rect">
            <a:avLst/>
          </a:prstGeom>
          <a:noFill/>
          <a:ln/>
        </p:spPr>
        <p:txBody>
          <a:bodyPr wrap="square" lIns="0" tIns="0" rIns="0" bIns="0" rtlCol="0" anchor="t"/>
          <a:lstStyle/>
          <a:p>
            <a:pPr algn="l" indent="0" marL="0">
              <a:lnSpc>
                <a:spcPts val="2600"/>
              </a:lnSpc>
              <a:buNone/>
            </a:pPr>
            <a:r>
              <a:rPr lang="en-US" sz="1750" dirty="0">
                <a:solidFill>
                  <a:srgbClr val="384653"/>
                </a:solidFill>
                <a:latin typeface="Roboto" pitchFamily="34" charset="0"/>
                <a:ea typeface="Roboto" pitchFamily="34" charset="-122"/>
                <a:cs typeface="Roboto" pitchFamily="34" charset="-120"/>
              </a:rPr>
              <a:t>Combined responses on trust in science and its influence on mental health awareness.</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085017"/>
            <a:ext cx="8285202"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Exploratory Data Analysis (EDA)</a:t>
            </a:r>
            <a:endParaRPr lang="en-US" sz="4450" dirty="0"/>
          </a:p>
        </p:txBody>
      </p:sp>
      <p:sp>
        <p:nvSpPr>
          <p:cNvPr id="3" name="Text 1"/>
          <p:cNvSpPr/>
          <p:nvPr/>
        </p:nvSpPr>
        <p:spPr>
          <a:xfrm>
            <a:off x="793790" y="2247424"/>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EDA revealed key insights into the dataset's characteristics and mental health trends.</a:t>
            </a:r>
            <a:endParaRPr lang="en-US" sz="1750" dirty="0"/>
          </a:p>
        </p:txBody>
      </p:sp>
      <p:sp>
        <p:nvSpPr>
          <p:cNvPr id="4" name="Text 2"/>
          <p:cNvSpPr/>
          <p:nvPr/>
        </p:nvSpPr>
        <p:spPr>
          <a:xfrm>
            <a:off x="793790" y="3069550"/>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Key Findings:</a:t>
            </a:r>
            <a:endParaRPr lang="en-US" sz="2200" dirty="0"/>
          </a:p>
        </p:txBody>
      </p:sp>
      <p:sp>
        <p:nvSpPr>
          <p:cNvPr id="5" name="Text 3"/>
          <p:cNvSpPr/>
          <p:nvPr/>
        </p:nvSpPr>
        <p:spPr>
          <a:xfrm>
            <a:off x="793790" y="3650694"/>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China and India</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report the highest number of mental health cases.</a:t>
            </a:r>
            <a:endParaRPr lang="en-US" sz="1750" dirty="0"/>
          </a:p>
        </p:txBody>
      </p:sp>
      <p:sp>
        <p:nvSpPr>
          <p:cNvPr id="6" name="Text 4"/>
          <p:cNvSpPr/>
          <p:nvPr/>
        </p:nvSpPr>
        <p:spPr>
          <a:xfrm>
            <a:off x="793790" y="4410313"/>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Peak age for first anxiety/depression experience is around </a:t>
            </a:r>
            <a:pPr algn="l" indent="0" marL="0">
              <a:lnSpc>
                <a:spcPts val="2650"/>
              </a:lnSpc>
              <a:buNone/>
            </a:pPr>
            <a:r>
              <a:rPr lang="en-US" sz="1750" b="1" dirty="0">
                <a:solidFill>
                  <a:srgbClr val="384653"/>
                </a:solidFill>
                <a:latin typeface="Roboto" pitchFamily="34" charset="0"/>
                <a:ea typeface="Roboto" pitchFamily="34" charset="-122"/>
                <a:cs typeface="Roboto" pitchFamily="34" charset="-120"/>
              </a:rPr>
              <a:t>18-20 years old</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t>
            </a:r>
            <a:endParaRPr lang="en-US" sz="1750" dirty="0"/>
          </a:p>
        </p:txBody>
      </p:sp>
      <p:sp>
        <p:nvSpPr>
          <p:cNvPr id="7" name="Text 5"/>
          <p:cNvSpPr/>
          <p:nvPr/>
        </p:nvSpPr>
        <p:spPr>
          <a:xfrm>
            <a:off x="793790" y="5169932"/>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26-35 age group</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shows the highest number of individuals reporting good mental health.</a:t>
            </a:r>
            <a:endParaRPr lang="en-US" sz="1750" dirty="0"/>
          </a:p>
        </p:txBody>
      </p:sp>
      <p:sp>
        <p:nvSpPr>
          <p:cNvPr id="8" name="Text 6"/>
          <p:cNvSpPr/>
          <p:nvPr/>
        </p:nvSpPr>
        <p:spPr>
          <a:xfrm>
            <a:off x="793790" y="5929551"/>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b="1" dirty="0">
                <a:solidFill>
                  <a:srgbClr val="384653"/>
                </a:solidFill>
                <a:latin typeface="Roboto" pitchFamily="34" charset="0"/>
                <a:ea typeface="Roboto" pitchFamily="34" charset="-122"/>
                <a:cs typeface="Roboto" pitchFamily="34" charset="-120"/>
              </a:rPr>
              <a:t>Higher trust in science</a:t>
            </a:r>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 is associated with higher percentages of good mental health.</a:t>
            </a:r>
            <a:endParaRPr lang="en-US" sz="1750" dirty="0"/>
          </a:p>
        </p:txBody>
      </p:sp>
      <p:pic>
        <p:nvPicPr>
          <p:cNvPr id="9" name="Image 0" descr="preencoded.png">    </p:cNvPr>
          <p:cNvPicPr>
            <a:picLocks noChangeAspect="1"/>
          </p:cNvPicPr>
          <p:nvPr/>
        </p:nvPicPr>
        <p:blipFill>
          <a:blip r:embed="rId1"/>
          <a:stretch>
            <a:fillRect/>
          </a:stretch>
        </p:blipFill>
        <p:spPr>
          <a:xfrm>
            <a:off x="7599521" y="3097887"/>
            <a:ext cx="6244709" cy="3247192"/>
          </a:xfrm>
          <a:prstGeom prst="rect">
            <a:avLst/>
          </a:prstGeom>
        </p:spPr>
      </p:pic>
      <p:sp>
        <p:nvSpPr>
          <p:cNvPr id="10" name="Text 7"/>
          <p:cNvSpPr/>
          <p:nvPr/>
        </p:nvSpPr>
        <p:spPr>
          <a:xfrm>
            <a:off x="7599521" y="6600230"/>
            <a:ext cx="6244709"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Geographical Distribution of Survey Countries</a:t>
            </a:r>
            <a:endParaRPr lang="en-US" sz="1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74502" y="608528"/>
            <a:ext cx="5532358" cy="691515"/>
          </a:xfrm>
          <a:prstGeom prst="rect">
            <a:avLst/>
          </a:prstGeom>
          <a:noFill/>
          <a:ln/>
        </p:spPr>
        <p:txBody>
          <a:bodyPr wrap="none" lIns="0" tIns="0" rIns="0" bIns="0" rtlCol="0" anchor="t"/>
          <a:lstStyle/>
          <a:p>
            <a:pPr algn="l" indent="0" marL="0">
              <a:lnSpc>
                <a:spcPts val="5400"/>
              </a:lnSpc>
              <a:buNone/>
            </a:pPr>
            <a:r>
              <a:rPr lang="en-US" sz="4350" dirty="0">
                <a:solidFill>
                  <a:srgbClr val="2E3C4E"/>
                </a:solidFill>
                <a:latin typeface="Host Grotesk Medium" pitchFamily="34" charset="0"/>
                <a:ea typeface="Host Grotesk Medium" pitchFamily="34" charset="-122"/>
                <a:cs typeface="Host Grotesk Medium" pitchFamily="34" charset="-120"/>
              </a:rPr>
              <a:t>Visualizations </a:t>
            </a:r>
            <a:endParaRPr lang="en-US" sz="4350" dirty="0"/>
          </a:p>
        </p:txBody>
      </p:sp>
      <p:pic>
        <p:nvPicPr>
          <p:cNvPr id="3" name="Image 0" descr="preencoded.png">    </p:cNvPr>
          <p:cNvPicPr>
            <a:picLocks noChangeAspect="1"/>
          </p:cNvPicPr>
          <p:nvPr/>
        </p:nvPicPr>
        <p:blipFill>
          <a:blip r:embed="rId1"/>
          <a:stretch>
            <a:fillRect/>
          </a:stretch>
        </p:blipFill>
        <p:spPr>
          <a:xfrm>
            <a:off x="774502" y="1880711"/>
            <a:ext cx="2865477" cy="2205276"/>
          </a:xfrm>
          <a:prstGeom prst="rect">
            <a:avLst/>
          </a:prstGeom>
        </p:spPr>
      </p:pic>
      <p:sp>
        <p:nvSpPr>
          <p:cNvPr id="4" name="Text 1"/>
          <p:cNvSpPr/>
          <p:nvPr/>
        </p:nvSpPr>
        <p:spPr>
          <a:xfrm>
            <a:off x="774502" y="4334828"/>
            <a:ext cx="2865477" cy="995839"/>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China and India report the highest number of mental health cases</a:t>
            </a:r>
            <a:endParaRPr lang="en-US" sz="1700" dirty="0"/>
          </a:p>
        </p:txBody>
      </p:sp>
      <p:pic>
        <p:nvPicPr>
          <p:cNvPr id="5" name="Image 1" descr="preencoded.png">    </p:cNvPr>
          <p:cNvPicPr>
            <a:picLocks noChangeAspect="1"/>
          </p:cNvPicPr>
          <p:nvPr/>
        </p:nvPicPr>
        <p:blipFill>
          <a:blip r:embed="rId2"/>
          <a:stretch>
            <a:fillRect/>
          </a:stretch>
        </p:blipFill>
        <p:spPr>
          <a:xfrm>
            <a:off x="4187428" y="1880711"/>
            <a:ext cx="2335887" cy="1410653"/>
          </a:xfrm>
          <a:prstGeom prst="rect">
            <a:avLst/>
          </a:prstGeom>
        </p:spPr>
      </p:pic>
      <p:sp>
        <p:nvSpPr>
          <p:cNvPr id="6" name="Text 2"/>
          <p:cNvSpPr/>
          <p:nvPr/>
        </p:nvSpPr>
        <p:spPr>
          <a:xfrm>
            <a:off x="4187428" y="3540204"/>
            <a:ext cx="2865477" cy="995839"/>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The peak is around 18–20 years old, with over 600 people in that bin.</a:t>
            </a:r>
            <a:endParaRPr lang="en-US" sz="1700" dirty="0"/>
          </a:p>
        </p:txBody>
      </p:sp>
      <p:pic>
        <p:nvPicPr>
          <p:cNvPr id="7" name="Image 2" descr="preencoded.png">    </p:cNvPr>
          <p:cNvPicPr>
            <a:picLocks noChangeAspect="1"/>
          </p:cNvPicPr>
          <p:nvPr/>
        </p:nvPicPr>
        <p:blipFill>
          <a:blip r:embed="rId3"/>
          <a:stretch>
            <a:fillRect/>
          </a:stretch>
        </p:blipFill>
        <p:spPr>
          <a:xfrm>
            <a:off x="7600355" y="1880711"/>
            <a:ext cx="2865477" cy="1989058"/>
          </a:xfrm>
          <a:prstGeom prst="rect">
            <a:avLst/>
          </a:prstGeom>
        </p:spPr>
      </p:pic>
      <p:sp>
        <p:nvSpPr>
          <p:cNvPr id="8" name="Text 3"/>
          <p:cNvSpPr/>
          <p:nvPr/>
        </p:nvSpPr>
        <p:spPr>
          <a:xfrm>
            <a:off x="7600355" y="4118610"/>
            <a:ext cx="2865477" cy="1659731"/>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Higher trust in science (Trust Levels 1 and 2) is associated with the highest percentages of people reporting good mental health—</a:t>
            </a:r>
            <a:endParaRPr lang="en-US" sz="1700" dirty="0"/>
          </a:p>
        </p:txBody>
      </p:sp>
      <p:pic>
        <p:nvPicPr>
          <p:cNvPr id="9" name="Image 3" descr="preencoded.png">    </p:cNvPr>
          <p:cNvPicPr>
            <a:picLocks noChangeAspect="1"/>
          </p:cNvPicPr>
          <p:nvPr/>
        </p:nvPicPr>
        <p:blipFill>
          <a:blip r:embed="rId4"/>
          <a:stretch>
            <a:fillRect/>
          </a:stretch>
        </p:blipFill>
        <p:spPr>
          <a:xfrm>
            <a:off x="11013281" y="1880711"/>
            <a:ext cx="2865477" cy="2123718"/>
          </a:xfrm>
          <a:prstGeom prst="rect">
            <a:avLst/>
          </a:prstGeom>
        </p:spPr>
      </p:pic>
      <p:sp>
        <p:nvSpPr>
          <p:cNvPr id="10" name="Text 4"/>
          <p:cNvSpPr/>
          <p:nvPr/>
        </p:nvSpPr>
        <p:spPr>
          <a:xfrm>
            <a:off x="11013281" y="4253270"/>
            <a:ext cx="2865477" cy="2655570"/>
          </a:xfrm>
          <a:prstGeom prst="rect">
            <a:avLst/>
          </a:prstGeom>
          <a:noFill/>
          <a:ln/>
        </p:spPr>
        <p:txBody>
          <a:bodyPr wrap="square" lIns="0" tIns="0" rIns="0" bIns="0" rtlCol="0" anchor="t"/>
          <a:lstStyle/>
          <a:p>
            <a:pPr algn="l" indent="0" marL="0">
              <a:lnSpc>
                <a:spcPts val="2600"/>
              </a:lnSpc>
              <a:buNone/>
            </a:pPr>
            <a:r>
              <a:rPr lang="en-US" sz="1700" dirty="0">
                <a:solidFill>
                  <a:srgbClr val="384653"/>
                </a:solidFill>
                <a:latin typeface="Roboto" pitchFamily="34" charset="0"/>
                <a:ea typeface="Roboto" pitchFamily="34" charset="-122"/>
                <a:cs typeface="Roboto" pitchFamily="34" charset="-120"/>
              </a:rPr>
              <a:t>The confusion matrix shows the model accurately predicts Class 0 and Class 2, but struggles slightly with Class 1, often confusing it with Class 2. Overall, the model demonstrates strong classification performance.</a:t>
            </a:r>
            <a:endParaRPr lang="en-US" sz="1700" dirty="0"/>
          </a:p>
        </p:txBody>
      </p:sp>
      <p:sp>
        <p:nvSpPr>
          <p:cNvPr id="11" name="Text 5"/>
          <p:cNvSpPr/>
          <p:nvPr/>
        </p:nvSpPr>
        <p:spPr>
          <a:xfrm>
            <a:off x="774502" y="7356753"/>
            <a:ext cx="13081397" cy="331946"/>
          </a:xfrm>
          <a:prstGeom prst="rect">
            <a:avLst/>
          </a:prstGeom>
          <a:noFill/>
          <a:ln/>
        </p:spPr>
        <p:txBody>
          <a:bodyPr wrap="none" lIns="0" tIns="0" rIns="0" bIns="0" rtlCol="0" anchor="t"/>
          <a:lstStyle/>
          <a:p>
            <a:pPr algn="l" indent="0" marL="0">
              <a:lnSpc>
                <a:spcPts val="2600"/>
              </a:lnSpc>
              <a:buNone/>
            </a:pP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753666"/>
            <a:ext cx="10383083"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Predictive Modeling: Logistic Regression</a:t>
            </a:r>
            <a:endParaRPr lang="en-US" sz="4450" dirty="0"/>
          </a:p>
        </p:txBody>
      </p:sp>
      <p:sp>
        <p:nvSpPr>
          <p:cNvPr id="3" name="Text 1"/>
          <p:cNvSpPr/>
          <p:nvPr/>
        </p:nvSpPr>
        <p:spPr>
          <a:xfrm>
            <a:off x="793790" y="1916073"/>
            <a:ext cx="13042821"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Logistic Regression was used to predict mental health outcomes based on various factors.</a:t>
            </a:r>
            <a:endParaRPr lang="en-US" sz="1750" dirty="0"/>
          </a:p>
        </p:txBody>
      </p:sp>
      <p:sp>
        <p:nvSpPr>
          <p:cNvPr id="4" name="Text 2"/>
          <p:cNvSpPr/>
          <p:nvPr/>
        </p:nvSpPr>
        <p:spPr>
          <a:xfrm>
            <a:off x="793790" y="2738199"/>
            <a:ext cx="3318272" cy="354330"/>
          </a:xfrm>
          <a:prstGeom prst="rect">
            <a:avLst/>
          </a:prstGeom>
          <a:noFill/>
          <a:ln/>
        </p:spPr>
        <p:txBody>
          <a:bodyPr wrap="none" lIns="0" tIns="0" rIns="0" bIns="0" rtlCol="0" anchor="t"/>
          <a:lstStyle/>
          <a:p>
            <a:pPr algn="l" indent="0" marL="0">
              <a:lnSpc>
                <a:spcPts val="2750"/>
              </a:lnSpc>
              <a:buNone/>
            </a:pPr>
            <a:r>
              <a:rPr lang="en-US" sz="2200" dirty="0">
                <a:solidFill>
                  <a:srgbClr val="2E3C4E"/>
                </a:solidFill>
                <a:latin typeface="Host Grotesk Medium" pitchFamily="34" charset="0"/>
                <a:ea typeface="Host Grotesk Medium" pitchFamily="34" charset="-122"/>
                <a:cs typeface="Host Grotesk Medium" pitchFamily="34" charset="-120"/>
              </a:rPr>
              <a:t>Why Logistic Regression?</a:t>
            </a:r>
            <a:endParaRPr lang="en-US" sz="2200" dirty="0"/>
          </a:p>
        </p:txBody>
      </p:sp>
      <p:sp>
        <p:nvSpPr>
          <p:cNvPr id="5" name="Text 3"/>
          <p:cNvSpPr/>
          <p:nvPr/>
        </p:nvSpPr>
        <p:spPr>
          <a:xfrm>
            <a:off x="793790" y="3319343"/>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Ideal for predicting binary outcomes (e.g., presence/absence of mental health issues).</a:t>
            </a:r>
            <a:endParaRPr lang="en-US" sz="1750" dirty="0"/>
          </a:p>
        </p:txBody>
      </p:sp>
      <p:sp>
        <p:nvSpPr>
          <p:cNvPr id="6" name="Text 4"/>
          <p:cNvSpPr/>
          <p:nvPr/>
        </p:nvSpPr>
        <p:spPr>
          <a:xfrm>
            <a:off x="793790" y="4078962"/>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Analyzes variables like stress levels, sleep hours, and therapy sessions.</a:t>
            </a:r>
            <a:endParaRPr lang="en-US" sz="1750" dirty="0"/>
          </a:p>
        </p:txBody>
      </p:sp>
      <p:sp>
        <p:nvSpPr>
          <p:cNvPr id="7" name="Text 5"/>
          <p:cNvSpPr/>
          <p:nvPr/>
        </p:nvSpPr>
        <p:spPr>
          <a:xfrm>
            <a:off x="793790" y="4838581"/>
            <a:ext cx="6244709" cy="680323"/>
          </a:xfrm>
          <a:prstGeom prst="rect">
            <a:avLst/>
          </a:prstGeom>
          <a:noFill/>
          <a:ln/>
        </p:spPr>
        <p:txBody>
          <a:bodyPr wrap="square" lIns="0" tIns="0" rIns="0" bIns="0" rtlCol="0" anchor="t"/>
          <a:lstStyle/>
          <a:p>
            <a:pPr algn="l" marL="342900" indent="-342900">
              <a:lnSpc>
                <a:spcPts val="2650"/>
              </a:lnSpc>
              <a:buSzPct val="100000"/>
              <a:buChar char="•"/>
            </a:pPr>
            <a:r>
              <a:rPr lang="en-US" sz="1750" dirty="0">
                <a:solidFill>
                  <a:srgbClr val="384653"/>
                </a:solidFill>
                <a:latin typeface="Roboto" pitchFamily="34" charset="0"/>
                <a:ea typeface="Roboto" pitchFamily="34" charset="-122"/>
                <a:cs typeface="Roboto" pitchFamily="34" charset="-120"/>
              </a:rPr>
              <a:t>Classifies individuals based on symptoms and risk factors.</a:t>
            </a:r>
            <a:endParaRPr lang="en-US" sz="1750" dirty="0"/>
          </a:p>
        </p:txBody>
      </p:sp>
      <p:pic>
        <p:nvPicPr>
          <p:cNvPr id="8" name="Image 0" descr="preencoded.png">    </p:cNvPr>
          <p:cNvPicPr>
            <a:picLocks noChangeAspect="1"/>
          </p:cNvPicPr>
          <p:nvPr/>
        </p:nvPicPr>
        <p:blipFill>
          <a:blip r:embed="rId1"/>
          <a:stretch>
            <a:fillRect/>
          </a:stretch>
        </p:blipFill>
        <p:spPr>
          <a:xfrm>
            <a:off x="7599521" y="2766536"/>
            <a:ext cx="6244709" cy="3909893"/>
          </a:xfrm>
          <a:prstGeom prst="rect">
            <a:avLst/>
          </a:prstGeom>
        </p:spPr>
      </p:pic>
      <p:sp>
        <p:nvSpPr>
          <p:cNvPr id="9" name="Text 6"/>
          <p:cNvSpPr/>
          <p:nvPr/>
        </p:nvSpPr>
        <p:spPr>
          <a:xfrm>
            <a:off x="7599521" y="6931581"/>
            <a:ext cx="6244709" cy="340162"/>
          </a:xfrm>
          <a:prstGeom prst="rect">
            <a:avLst/>
          </a:prstGeom>
          <a:noFill/>
          <a:ln/>
        </p:spPr>
        <p:txBody>
          <a:bodyPr wrap="non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Model Accuracy: 0.9365</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1054418"/>
            <a:ext cx="5708928"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Overall Interpretations</a:t>
            </a:r>
            <a:endParaRPr lang="en-US" sz="4450" dirty="0"/>
          </a:p>
        </p:txBody>
      </p:sp>
      <p:sp>
        <p:nvSpPr>
          <p:cNvPr id="3" name="Shape 1"/>
          <p:cNvSpPr/>
          <p:nvPr/>
        </p:nvSpPr>
        <p:spPr>
          <a:xfrm>
            <a:off x="793790" y="2216825"/>
            <a:ext cx="6407944" cy="2365772"/>
          </a:xfrm>
          <a:prstGeom prst="roundRect">
            <a:avLst>
              <a:gd name="adj" fmla="val 4027"/>
            </a:avLst>
          </a:prstGeom>
          <a:solidFill>
            <a:srgbClr val="FAF9F5"/>
          </a:solidFill>
          <a:ln w="30480">
            <a:solidFill>
              <a:srgbClr val="BFD3D8"/>
            </a:solidFill>
            <a:prstDash val="solid"/>
          </a:ln>
        </p:spPr>
      </p:sp>
      <p:sp>
        <p:nvSpPr>
          <p:cNvPr id="4" name="Shape 2"/>
          <p:cNvSpPr/>
          <p:nvPr/>
        </p:nvSpPr>
        <p:spPr>
          <a:xfrm>
            <a:off x="824270" y="2247305"/>
            <a:ext cx="6346984" cy="680442"/>
          </a:xfrm>
          <a:prstGeom prst="roundRect">
            <a:avLst>
              <a:gd name="adj" fmla="val 8626"/>
            </a:avLst>
          </a:prstGeom>
          <a:solidFill>
            <a:srgbClr val="D9EDF2"/>
          </a:solidFill>
          <a:ln/>
        </p:spPr>
      </p:sp>
      <p:sp>
        <p:nvSpPr>
          <p:cNvPr id="5" name="Text 3"/>
          <p:cNvSpPr/>
          <p:nvPr/>
        </p:nvSpPr>
        <p:spPr>
          <a:xfrm>
            <a:off x="3827621" y="2371011"/>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1</a:t>
            </a:r>
            <a:endParaRPr lang="en-US" sz="2650" dirty="0"/>
          </a:p>
        </p:txBody>
      </p:sp>
      <p:sp>
        <p:nvSpPr>
          <p:cNvPr id="6" name="Text 4"/>
          <p:cNvSpPr/>
          <p:nvPr/>
        </p:nvSpPr>
        <p:spPr>
          <a:xfrm>
            <a:off x="1051084" y="3154561"/>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Gender &amp; Education</a:t>
            </a:r>
            <a:endParaRPr lang="en-US" sz="2200" dirty="0"/>
          </a:p>
        </p:txBody>
      </p:sp>
      <p:sp>
        <p:nvSpPr>
          <p:cNvPr id="7" name="Text 5"/>
          <p:cNvSpPr/>
          <p:nvPr/>
        </p:nvSpPr>
        <p:spPr>
          <a:xfrm>
            <a:off x="1051084" y="3644979"/>
            <a:ext cx="5893356"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Both males and females, and those with moderate to high education, are more likely to report mental health issues.</a:t>
            </a:r>
            <a:endParaRPr lang="en-US" sz="1750" dirty="0"/>
          </a:p>
        </p:txBody>
      </p:sp>
      <p:sp>
        <p:nvSpPr>
          <p:cNvPr id="8" name="Shape 6"/>
          <p:cNvSpPr/>
          <p:nvPr/>
        </p:nvSpPr>
        <p:spPr>
          <a:xfrm>
            <a:off x="7428548" y="2216825"/>
            <a:ext cx="6408063" cy="2365772"/>
          </a:xfrm>
          <a:prstGeom prst="roundRect">
            <a:avLst>
              <a:gd name="adj" fmla="val 4027"/>
            </a:avLst>
          </a:prstGeom>
          <a:solidFill>
            <a:srgbClr val="FAF9F5"/>
          </a:solidFill>
          <a:ln w="30480">
            <a:solidFill>
              <a:srgbClr val="BFD3D8"/>
            </a:solidFill>
            <a:prstDash val="solid"/>
          </a:ln>
        </p:spPr>
      </p:sp>
      <p:sp>
        <p:nvSpPr>
          <p:cNvPr id="9" name="Shape 7"/>
          <p:cNvSpPr/>
          <p:nvPr/>
        </p:nvSpPr>
        <p:spPr>
          <a:xfrm>
            <a:off x="7459027" y="2247305"/>
            <a:ext cx="6347103" cy="680442"/>
          </a:xfrm>
          <a:prstGeom prst="roundRect">
            <a:avLst>
              <a:gd name="adj" fmla="val 8626"/>
            </a:avLst>
          </a:prstGeom>
          <a:solidFill>
            <a:srgbClr val="D9EDF2"/>
          </a:solidFill>
          <a:ln/>
        </p:spPr>
      </p:sp>
      <p:sp>
        <p:nvSpPr>
          <p:cNvPr id="10" name="Text 8"/>
          <p:cNvSpPr/>
          <p:nvPr/>
        </p:nvSpPr>
        <p:spPr>
          <a:xfrm>
            <a:off x="10462498" y="2371011"/>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2</a:t>
            </a:r>
            <a:endParaRPr lang="en-US" sz="2650" dirty="0"/>
          </a:p>
        </p:txBody>
      </p:sp>
      <p:sp>
        <p:nvSpPr>
          <p:cNvPr id="11" name="Text 9"/>
          <p:cNvSpPr/>
          <p:nvPr/>
        </p:nvSpPr>
        <p:spPr>
          <a:xfrm>
            <a:off x="7685842" y="3154561"/>
            <a:ext cx="3635693"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Employment &amp; Social Media</a:t>
            </a:r>
            <a:endParaRPr lang="en-US" sz="2200" dirty="0"/>
          </a:p>
        </p:txBody>
      </p:sp>
      <p:sp>
        <p:nvSpPr>
          <p:cNvPr id="12" name="Text 10"/>
          <p:cNvSpPr/>
          <p:nvPr/>
        </p:nvSpPr>
        <p:spPr>
          <a:xfrm>
            <a:off x="7685842" y="3644979"/>
            <a:ext cx="5893475"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Unemployed individuals and frequent social media users report more mental health issues.</a:t>
            </a:r>
            <a:endParaRPr lang="en-US" sz="1750" dirty="0"/>
          </a:p>
        </p:txBody>
      </p:sp>
      <p:sp>
        <p:nvSpPr>
          <p:cNvPr id="13" name="Shape 11"/>
          <p:cNvSpPr/>
          <p:nvPr/>
        </p:nvSpPr>
        <p:spPr>
          <a:xfrm>
            <a:off x="793790" y="4809411"/>
            <a:ext cx="6407944" cy="2365772"/>
          </a:xfrm>
          <a:prstGeom prst="roundRect">
            <a:avLst>
              <a:gd name="adj" fmla="val 4027"/>
            </a:avLst>
          </a:prstGeom>
          <a:solidFill>
            <a:srgbClr val="FAF9F5"/>
          </a:solidFill>
          <a:ln w="30480">
            <a:solidFill>
              <a:srgbClr val="BFD3D8"/>
            </a:solidFill>
            <a:prstDash val="solid"/>
          </a:ln>
        </p:spPr>
      </p:sp>
      <p:sp>
        <p:nvSpPr>
          <p:cNvPr id="14" name="Shape 12"/>
          <p:cNvSpPr/>
          <p:nvPr/>
        </p:nvSpPr>
        <p:spPr>
          <a:xfrm>
            <a:off x="824270" y="4839891"/>
            <a:ext cx="6346984" cy="680442"/>
          </a:xfrm>
          <a:prstGeom prst="roundRect">
            <a:avLst>
              <a:gd name="adj" fmla="val 8626"/>
            </a:avLst>
          </a:prstGeom>
          <a:solidFill>
            <a:srgbClr val="D9EDF2"/>
          </a:solidFill>
          <a:ln/>
        </p:spPr>
      </p:sp>
      <p:sp>
        <p:nvSpPr>
          <p:cNvPr id="15" name="Text 13"/>
          <p:cNvSpPr/>
          <p:nvPr/>
        </p:nvSpPr>
        <p:spPr>
          <a:xfrm>
            <a:off x="3827621" y="4963597"/>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3</a:t>
            </a:r>
            <a:endParaRPr lang="en-US" sz="2650" dirty="0"/>
          </a:p>
        </p:txBody>
      </p:sp>
      <p:sp>
        <p:nvSpPr>
          <p:cNvPr id="16" name="Text 14"/>
          <p:cNvSpPr/>
          <p:nvPr/>
        </p:nvSpPr>
        <p:spPr>
          <a:xfrm>
            <a:off x="1051084" y="57471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Age &amp; Income</a:t>
            </a:r>
            <a:endParaRPr lang="en-US" sz="2200" dirty="0"/>
          </a:p>
        </p:txBody>
      </p:sp>
      <p:sp>
        <p:nvSpPr>
          <p:cNvPr id="17" name="Text 15"/>
          <p:cNvSpPr/>
          <p:nvPr/>
        </p:nvSpPr>
        <p:spPr>
          <a:xfrm>
            <a:off x="1051084" y="6237565"/>
            <a:ext cx="5893356"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Higher age and lower income are commonly associated with mental health issues.</a:t>
            </a:r>
            <a:endParaRPr lang="en-US" sz="1750" dirty="0"/>
          </a:p>
        </p:txBody>
      </p:sp>
      <p:sp>
        <p:nvSpPr>
          <p:cNvPr id="18" name="Shape 16"/>
          <p:cNvSpPr/>
          <p:nvPr/>
        </p:nvSpPr>
        <p:spPr>
          <a:xfrm>
            <a:off x="7428548" y="4809411"/>
            <a:ext cx="6408063" cy="2365772"/>
          </a:xfrm>
          <a:prstGeom prst="roundRect">
            <a:avLst>
              <a:gd name="adj" fmla="val 4027"/>
            </a:avLst>
          </a:prstGeom>
          <a:solidFill>
            <a:srgbClr val="FAF9F5"/>
          </a:solidFill>
          <a:ln w="30480">
            <a:solidFill>
              <a:srgbClr val="BFD3D8"/>
            </a:solidFill>
            <a:prstDash val="solid"/>
          </a:ln>
        </p:spPr>
      </p:sp>
      <p:sp>
        <p:nvSpPr>
          <p:cNvPr id="19" name="Shape 17"/>
          <p:cNvSpPr/>
          <p:nvPr/>
        </p:nvSpPr>
        <p:spPr>
          <a:xfrm>
            <a:off x="7459027" y="4839891"/>
            <a:ext cx="6347103" cy="680442"/>
          </a:xfrm>
          <a:prstGeom prst="roundRect">
            <a:avLst>
              <a:gd name="adj" fmla="val 8626"/>
            </a:avLst>
          </a:prstGeom>
          <a:solidFill>
            <a:srgbClr val="D9EDF2"/>
          </a:solidFill>
          <a:ln/>
        </p:spPr>
      </p:sp>
      <p:sp>
        <p:nvSpPr>
          <p:cNvPr id="20" name="Text 18"/>
          <p:cNvSpPr/>
          <p:nvPr/>
        </p:nvSpPr>
        <p:spPr>
          <a:xfrm>
            <a:off x="10462498" y="4963597"/>
            <a:ext cx="340162" cy="425291"/>
          </a:xfrm>
          <a:prstGeom prst="rect">
            <a:avLst/>
          </a:prstGeom>
          <a:noFill/>
          <a:ln/>
        </p:spPr>
        <p:txBody>
          <a:bodyPr wrap="none" lIns="0" tIns="0" rIns="0" bIns="0" rtlCol="0" anchor="t"/>
          <a:lstStyle/>
          <a:p>
            <a:pPr algn="l" indent="0" marL="0">
              <a:lnSpc>
                <a:spcPts val="2650"/>
              </a:lnSpc>
              <a:buNone/>
            </a:pPr>
            <a:r>
              <a:rPr lang="en-US" sz="2650" dirty="0">
                <a:solidFill>
                  <a:srgbClr val="384653"/>
                </a:solidFill>
                <a:latin typeface="Host Grotesk Medium" pitchFamily="34" charset="0"/>
                <a:ea typeface="Host Grotesk Medium" pitchFamily="34" charset="-122"/>
                <a:cs typeface="Host Grotesk Medium" pitchFamily="34" charset="-120"/>
              </a:rPr>
              <a:t>4</a:t>
            </a:r>
            <a:endParaRPr lang="en-US" sz="2650" dirty="0"/>
          </a:p>
        </p:txBody>
      </p:sp>
      <p:sp>
        <p:nvSpPr>
          <p:cNvPr id="21" name="Text 19"/>
          <p:cNvSpPr/>
          <p:nvPr/>
        </p:nvSpPr>
        <p:spPr>
          <a:xfrm>
            <a:off x="7685842" y="5747147"/>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Awareness</a:t>
            </a:r>
            <a:endParaRPr lang="en-US" sz="2200" dirty="0"/>
          </a:p>
        </p:txBody>
      </p:sp>
      <p:sp>
        <p:nvSpPr>
          <p:cNvPr id="22" name="Text 20"/>
          <p:cNvSpPr/>
          <p:nvPr/>
        </p:nvSpPr>
        <p:spPr>
          <a:xfrm>
            <a:off x="7685842" y="6237565"/>
            <a:ext cx="5893475"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Lack of awareness ("Don't Know") is more common in younger and middle-income individuals.</a:t>
            </a:r>
            <a:endParaRPr lang="en-US" sz="1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803553"/>
            <a:ext cx="8706564"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Conclusions &amp; Recommendations</a:t>
            </a:r>
            <a:endParaRPr lang="en-US" sz="4450" dirty="0"/>
          </a:p>
        </p:txBody>
      </p:sp>
      <p:pic>
        <p:nvPicPr>
          <p:cNvPr id="3" name="Image 0" descr="preencoded.png">    </p:cNvPr>
          <p:cNvPicPr>
            <a:picLocks noChangeAspect="1"/>
          </p:cNvPicPr>
          <p:nvPr/>
        </p:nvPicPr>
        <p:blipFill>
          <a:blip r:embed="rId1"/>
          <a:stretch>
            <a:fillRect/>
          </a:stretch>
        </p:blipFill>
        <p:spPr>
          <a:xfrm>
            <a:off x="793790" y="2306122"/>
            <a:ext cx="6436400" cy="1143000"/>
          </a:xfrm>
          <a:prstGeom prst="rect">
            <a:avLst/>
          </a:prstGeom>
        </p:spPr>
      </p:pic>
      <p:sp>
        <p:nvSpPr>
          <p:cNvPr id="4" name="Text 1"/>
          <p:cNvSpPr/>
          <p:nvPr/>
        </p:nvSpPr>
        <p:spPr>
          <a:xfrm>
            <a:off x="1020604" y="3213378"/>
            <a:ext cx="2835235"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Rising Importance</a:t>
            </a:r>
            <a:endParaRPr lang="en-US" sz="2200" dirty="0"/>
          </a:p>
        </p:txBody>
      </p:sp>
      <p:sp>
        <p:nvSpPr>
          <p:cNvPr id="5" name="Text 2"/>
          <p:cNvSpPr/>
          <p:nvPr/>
        </p:nvSpPr>
        <p:spPr>
          <a:xfrm>
            <a:off x="1020604" y="3703796"/>
            <a:ext cx="5982772"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92% believe mental health is as important as physical health, a significant global shift.</a:t>
            </a:r>
            <a:endParaRPr lang="en-US" sz="1750" dirty="0"/>
          </a:p>
        </p:txBody>
      </p:sp>
      <p:pic>
        <p:nvPicPr>
          <p:cNvPr id="6" name="Image 1" descr="preencoded.png">    </p:cNvPr>
          <p:cNvPicPr>
            <a:picLocks noChangeAspect="1"/>
          </p:cNvPicPr>
          <p:nvPr/>
        </p:nvPicPr>
        <p:blipFill>
          <a:blip r:embed="rId2"/>
          <a:stretch>
            <a:fillRect/>
          </a:stretch>
        </p:blipFill>
        <p:spPr>
          <a:xfrm>
            <a:off x="7400211" y="1965960"/>
            <a:ext cx="6436400" cy="1143000"/>
          </a:xfrm>
          <a:prstGeom prst="rect">
            <a:avLst/>
          </a:prstGeom>
        </p:spPr>
      </p:pic>
      <p:sp>
        <p:nvSpPr>
          <p:cNvPr id="7" name="Text 3"/>
          <p:cNvSpPr/>
          <p:nvPr/>
        </p:nvSpPr>
        <p:spPr>
          <a:xfrm>
            <a:off x="7627025" y="2873216"/>
            <a:ext cx="3672007"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Public Perception of Science</a:t>
            </a:r>
            <a:endParaRPr lang="en-US" sz="2200" dirty="0"/>
          </a:p>
        </p:txBody>
      </p:sp>
      <p:sp>
        <p:nvSpPr>
          <p:cNvPr id="8" name="Text 4"/>
          <p:cNvSpPr/>
          <p:nvPr/>
        </p:nvSpPr>
        <p:spPr>
          <a:xfrm>
            <a:off x="7627025" y="3363635"/>
            <a:ext cx="5982772"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Disconnect between importance and confidence in science's ability to solve mental health issues.</a:t>
            </a:r>
            <a:endParaRPr lang="en-US" sz="1750" dirty="0"/>
          </a:p>
        </p:txBody>
      </p:sp>
      <p:pic>
        <p:nvPicPr>
          <p:cNvPr id="9" name="Image 2" descr="preencoded.png">    </p:cNvPr>
          <p:cNvPicPr>
            <a:picLocks noChangeAspect="1"/>
          </p:cNvPicPr>
          <p:nvPr/>
        </p:nvPicPr>
        <p:blipFill>
          <a:blip r:embed="rId3"/>
          <a:stretch>
            <a:fillRect/>
          </a:stretch>
        </p:blipFill>
        <p:spPr>
          <a:xfrm>
            <a:off x="793790" y="5121116"/>
            <a:ext cx="6436400" cy="1143000"/>
          </a:xfrm>
          <a:prstGeom prst="rect">
            <a:avLst/>
          </a:prstGeom>
        </p:spPr>
      </p:pic>
      <p:sp>
        <p:nvSpPr>
          <p:cNvPr id="10" name="Text 5"/>
          <p:cNvSpPr/>
          <p:nvPr/>
        </p:nvSpPr>
        <p:spPr>
          <a:xfrm>
            <a:off x="1020604" y="6028373"/>
            <a:ext cx="3396853"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Diverse Approach Needed</a:t>
            </a:r>
            <a:endParaRPr lang="en-US" sz="2200" dirty="0"/>
          </a:p>
        </p:txBody>
      </p:sp>
      <p:sp>
        <p:nvSpPr>
          <p:cNvPr id="11" name="Text 6"/>
          <p:cNvSpPr/>
          <p:nvPr/>
        </p:nvSpPr>
        <p:spPr>
          <a:xfrm>
            <a:off x="1020604" y="6518791"/>
            <a:ext cx="5982772"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Acknowledge and investigate a wide range of solutions, not just traditional treatments.</a:t>
            </a:r>
            <a:endParaRPr lang="en-US" sz="1750" dirty="0"/>
          </a:p>
        </p:txBody>
      </p:sp>
      <p:pic>
        <p:nvPicPr>
          <p:cNvPr id="12" name="Image 3" descr="preencoded.png">    </p:cNvPr>
          <p:cNvPicPr>
            <a:picLocks noChangeAspect="1"/>
          </p:cNvPicPr>
          <p:nvPr/>
        </p:nvPicPr>
        <p:blipFill>
          <a:blip r:embed="rId4"/>
          <a:stretch>
            <a:fillRect/>
          </a:stretch>
        </p:blipFill>
        <p:spPr>
          <a:xfrm>
            <a:off x="7400211" y="4780955"/>
            <a:ext cx="6436400" cy="1143000"/>
          </a:xfrm>
          <a:prstGeom prst="rect">
            <a:avLst/>
          </a:prstGeom>
        </p:spPr>
      </p:pic>
      <p:sp>
        <p:nvSpPr>
          <p:cNvPr id="13" name="Text 7"/>
          <p:cNvSpPr/>
          <p:nvPr/>
        </p:nvSpPr>
        <p:spPr>
          <a:xfrm>
            <a:off x="7627025" y="5688211"/>
            <a:ext cx="2839998" cy="354330"/>
          </a:xfrm>
          <a:prstGeom prst="rect">
            <a:avLst/>
          </a:prstGeom>
          <a:noFill/>
          <a:ln/>
        </p:spPr>
        <p:txBody>
          <a:bodyPr wrap="none" lIns="0" tIns="0" rIns="0" bIns="0" rtlCol="0" anchor="t"/>
          <a:lstStyle/>
          <a:p>
            <a:pPr algn="l" indent="0" marL="0">
              <a:lnSpc>
                <a:spcPts val="2750"/>
              </a:lnSpc>
              <a:buNone/>
            </a:pPr>
            <a:r>
              <a:rPr lang="en-US" sz="2200" dirty="0">
                <a:solidFill>
                  <a:srgbClr val="384653"/>
                </a:solidFill>
                <a:latin typeface="Host Grotesk Medium" pitchFamily="34" charset="0"/>
                <a:ea typeface="Host Grotesk Medium" pitchFamily="34" charset="-122"/>
                <a:cs typeface="Host Grotesk Medium" pitchFamily="34" charset="-120"/>
              </a:rPr>
              <a:t>Challenge for Science</a:t>
            </a:r>
            <a:endParaRPr lang="en-US" sz="2200" dirty="0"/>
          </a:p>
        </p:txBody>
      </p:sp>
      <p:sp>
        <p:nvSpPr>
          <p:cNvPr id="14" name="Text 8"/>
          <p:cNvSpPr/>
          <p:nvPr/>
        </p:nvSpPr>
        <p:spPr>
          <a:xfrm>
            <a:off x="7627025" y="6178629"/>
            <a:ext cx="5982772"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Build on what works, investigate all possible solutions, and find next-generation treatments.</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AF9F5">
              <a:alpha val="85000"/>
            </a:srgbClr>
          </a:solidFill>
          <a:ln/>
        </p:spPr>
      </p:sp>
      <p:sp>
        <p:nvSpPr>
          <p:cNvPr id="4" name="Text 1"/>
          <p:cNvSpPr/>
          <p:nvPr/>
        </p:nvSpPr>
        <p:spPr>
          <a:xfrm>
            <a:off x="793790" y="2952512"/>
            <a:ext cx="5670590" cy="708779"/>
          </a:xfrm>
          <a:prstGeom prst="rect">
            <a:avLst/>
          </a:prstGeom>
          <a:noFill/>
          <a:ln/>
        </p:spPr>
        <p:txBody>
          <a:bodyPr wrap="none" lIns="0" tIns="0" rIns="0" bIns="0" rtlCol="0" anchor="t"/>
          <a:lstStyle/>
          <a:p>
            <a:pPr algn="l" indent="0" marL="0">
              <a:lnSpc>
                <a:spcPts val="5550"/>
              </a:lnSpc>
              <a:buNone/>
            </a:pPr>
            <a:r>
              <a:rPr lang="en-US" sz="4450" dirty="0">
                <a:solidFill>
                  <a:srgbClr val="2E3C4E"/>
                </a:solidFill>
                <a:latin typeface="Host Grotesk Medium" pitchFamily="34" charset="0"/>
                <a:ea typeface="Host Grotesk Medium" pitchFamily="34" charset="-122"/>
                <a:cs typeface="Host Grotesk Medium" pitchFamily="34" charset="-120"/>
              </a:rPr>
              <a:t>Thank You!</a:t>
            </a:r>
            <a:endParaRPr lang="en-US" sz="4450" dirty="0"/>
          </a:p>
        </p:txBody>
      </p:sp>
      <p:sp>
        <p:nvSpPr>
          <p:cNvPr id="5" name="Text 2"/>
          <p:cNvSpPr/>
          <p:nvPr/>
        </p:nvSpPr>
        <p:spPr>
          <a:xfrm>
            <a:off x="793790" y="4001453"/>
            <a:ext cx="13042821" cy="680323"/>
          </a:xfrm>
          <a:prstGeom prst="rect">
            <a:avLst/>
          </a:prstGeom>
          <a:noFill/>
          <a:ln/>
        </p:spPr>
        <p:txBody>
          <a:bodyPr wrap="square" lIns="0" tIns="0" rIns="0" bIns="0" rtlCol="0" anchor="t"/>
          <a:lstStyle/>
          <a:p>
            <a:pPr algn="l" indent="0" marL="0">
              <a:lnSpc>
                <a:spcPts val="2650"/>
              </a:lnSpc>
              <a:buNone/>
            </a:pPr>
            <a:r>
              <a:rPr lang="en-US" sz="1750" dirty="0">
                <a:solidFill>
                  <a:srgbClr val="384653"/>
                </a:solidFill>
                <a:latin typeface="Roboto" pitchFamily="34" charset="0"/>
                <a:ea typeface="Roboto" pitchFamily="34" charset="-122"/>
                <a:cs typeface="Roboto" pitchFamily="34" charset="-120"/>
              </a:rPr>
              <a:t>Thank you for your attention and engagement in this crucial discussion on mental health. Your commitment to understanding these insights is invaluable.</a:t>
            </a:r>
            <a:endParaRPr lang="en-US" sz="1750" dirty="0"/>
          </a:p>
        </p:txBody>
      </p:sp>
      <p:sp>
        <p:nvSpPr>
          <p:cNvPr id="6" name="Text 3"/>
          <p:cNvSpPr/>
          <p:nvPr/>
        </p:nvSpPr>
        <p:spPr>
          <a:xfrm>
            <a:off x="793790" y="4936927"/>
            <a:ext cx="13042821" cy="340162"/>
          </a:xfrm>
          <a:prstGeom prst="rect">
            <a:avLst/>
          </a:prstGeom>
          <a:noFill/>
          <a:ln/>
        </p:spPr>
        <p:txBody>
          <a:bodyPr wrap="none" lIns="0" tIns="0" rIns="0" bIns="0" rtlCol="0" anchor="t"/>
          <a:lstStyle/>
          <a:p>
            <a:pPr algn="l" indent="0" marL="0">
              <a:lnSpc>
                <a:spcPts val="2650"/>
              </a:lnSpc>
              <a:buNone/>
            </a:pP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2025-08-06T18:48:46Z</dcterms:created>
  <dcterms:modified xsi:type="dcterms:W3CDTF">2025-08-06T18:48:46Z</dcterms:modified>
</cp:coreProperties>
</file>